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9" r:id="rId3"/>
    <p:sldId id="257" r:id="rId4"/>
    <p:sldId id="258" r:id="rId5"/>
    <p:sldId id="259" r:id="rId6"/>
    <p:sldId id="260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75"/>
    <p:restoredTop sz="94708"/>
  </p:normalViewPr>
  <p:slideViewPr>
    <p:cSldViewPr snapToGrid="0" snapToObjects="1">
      <p:cViewPr varScale="1">
        <p:scale>
          <a:sx n="110" d="100"/>
          <a:sy n="110" d="100"/>
        </p:scale>
        <p:origin x="176" y="1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26FAD7-0FFE-A0DB-1792-2C96B64750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2D54F-9490-1A84-C2A4-FD55B48ADF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D07A8-6C7E-134E-9671-016C37CCC90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1CEBF-2EBC-D1AD-5FBA-BEAC9C6B7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20C35-C8C2-D384-1D49-1853C31DC6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5BFB2-F769-7C46-AA5F-0B34814D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08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01501-6DEC-4741-A5D4-E4281CE521A9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5FBD2-BC00-CB4B-9DDA-DA3A53AF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8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50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2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91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4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00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7D482-56E6-F41D-6FE0-EA18514913FE}"/>
              </a:ext>
            </a:extLst>
          </p:cNvPr>
          <p:cNvSpPr/>
          <p:nvPr userDrawn="1"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ED46F-7B5A-1058-8CB4-AC25AB601D51}"/>
              </a:ext>
            </a:extLst>
          </p:cNvPr>
          <p:cNvSpPr txBox="1"/>
          <p:nvPr userDrawn="1"/>
        </p:nvSpPr>
        <p:spPr>
          <a:xfrm>
            <a:off x="182880" y="6510528"/>
            <a:ext cx="11795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CodeBMB</a:t>
            </a:r>
            <a:r>
              <a:rPr sz="1600" b="0" dirty="0">
                <a:solidFill>
                  <a:srgbClr val="FFFFFF"/>
                </a:solidFill>
              </a:rPr>
              <a:t> Workshop  |  </a:t>
            </a:r>
            <a:r>
              <a:rPr sz="1600" b="0" dirty="0" err="1">
                <a:solidFill>
                  <a:srgbClr val="FFFFFF"/>
                </a:solidFill>
              </a:rPr>
              <a:t>coding</a:t>
            </a:r>
            <a:r>
              <a:rPr lang="en-US" sz="1600" b="0" dirty="0" err="1">
                <a:solidFill>
                  <a:srgbClr val="FFFFFF"/>
                </a:solidFill>
              </a:rPr>
              <a:t>for</a:t>
            </a:r>
            <a:r>
              <a:rPr sz="1600" b="0" dirty="0" err="1">
                <a:solidFill>
                  <a:srgbClr val="FFFFFF"/>
                </a:solidFill>
              </a:rPr>
              <a:t>BMB@gmail.com</a:t>
            </a:r>
            <a:r>
              <a:rPr lang="en-US" sz="1600" b="0" dirty="0">
                <a:solidFill>
                  <a:srgbClr val="FFFFFF"/>
                </a:solidFill>
              </a:rPr>
              <a:t>  |  </a:t>
            </a:r>
            <a:r>
              <a:rPr lang="en-US" sz="1600" b="0" dirty="0" err="1">
                <a:solidFill>
                  <a:srgbClr val="FFFFFF"/>
                </a:solidFill>
              </a:rPr>
              <a:t>github.com</a:t>
            </a:r>
            <a:r>
              <a:rPr lang="en-US" sz="1600" b="0" dirty="0">
                <a:solidFill>
                  <a:srgbClr val="FFFFFF"/>
                </a:solidFill>
              </a:rPr>
              <a:t>/</a:t>
            </a:r>
            <a:r>
              <a:rPr lang="en-US" sz="1600" b="0" dirty="0" err="1">
                <a:solidFill>
                  <a:srgbClr val="FFFFFF"/>
                </a:solidFill>
              </a:rPr>
              <a:t>codeBMB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7" name="Picture 6" descr="A green and yellow snake logo&#10;&#10;AI-generated content may be incorrect.">
            <a:extLst>
              <a:ext uri="{FF2B5EF4-FFF2-40B4-BE49-F238E27FC236}">
                <a16:creationId xmlns:a16="http://schemas.microsoft.com/office/drawing/2014/main" id="{61AE1850-7497-929C-FEA4-95B84A59E3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300662" y="6172200"/>
            <a:ext cx="6830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F1F18-4693-CD64-646B-B22923E3738B}"/>
              </a:ext>
            </a:extLst>
          </p:cNvPr>
          <p:cNvSpPr/>
          <p:nvPr/>
        </p:nvSpPr>
        <p:spPr>
          <a:xfrm>
            <a:off x="0" y="1995914"/>
            <a:ext cx="12188825" cy="2291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Why Coding?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4472"/>
            <a:ext cx="86657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dirty="0">
                <a:solidFill>
                  <a:srgbClr val="002060"/>
                </a:solidFill>
              </a:rPr>
              <a:t>The Pedagogical Case for </a:t>
            </a:r>
            <a:endParaRPr lang="en-US" sz="3600" b="0" dirty="0">
              <a:solidFill>
                <a:srgbClr val="002060"/>
              </a:solidFill>
            </a:endParaRPr>
          </a:p>
          <a:p>
            <a:pPr algn="ctr"/>
            <a:r>
              <a:rPr sz="3600" b="0" dirty="0">
                <a:solidFill>
                  <a:srgbClr val="002060"/>
                </a:solidFill>
              </a:rPr>
              <a:t>Computational Literacy
in Biochemistry and Molecular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dirty="0">
                <a:solidFill>
                  <a:srgbClr val="BDD7EE"/>
                </a:solidFill>
              </a:rPr>
              <a:t>Wally Novak</a:t>
            </a:r>
          </a:p>
          <a:p>
            <a:pPr algn="ctr"/>
            <a:r>
              <a:rPr sz="2800" b="0" dirty="0" err="1">
                <a:solidFill>
                  <a:srgbClr val="BDD7EE"/>
                </a:solidFill>
              </a:rPr>
              <a:t>CodeBMB</a:t>
            </a:r>
            <a:r>
              <a:rPr sz="2800" b="0" dirty="0">
                <a:solidFill>
                  <a:srgbClr val="BDD7EE"/>
                </a:solidFill>
              </a:rPr>
              <a:t> Workshop</a:t>
            </a:r>
          </a:p>
        </p:txBody>
      </p:sp>
      <p:pic>
        <p:nvPicPr>
          <p:cNvPr id="9" name="Picture 8" descr="A logo with text and a snake&#10;&#10;AI-generated content may be incorrect.">
            <a:extLst>
              <a:ext uri="{FF2B5EF4-FFF2-40B4-BE49-F238E27FC236}">
                <a16:creationId xmlns:a16="http://schemas.microsoft.com/office/drawing/2014/main" id="{158658AA-4664-92F0-CEAD-6DF0AF61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831" y="1995914"/>
            <a:ext cx="2453372" cy="2291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13C18-214E-E2FE-A22E-D6FCCC3F9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91" y="1376856"/>
            <a:ext cx="11062138" cy="4719144"/>
          </a:xfrm>
        </p:spPr>
        <p:txBody>
          <a:bodyPr>
            <a:noAutofit/>
          </a:bodyPr>
          <a:lstStyle/>
          <a:p>
            <a:r>
              <a:rPr lang="en-US" sz="2600" dirty="0"/>
              <a:t>Define </a:t>
            </a:r>
            <a:r>
              <a:rPr lang="en-US" sz="2600" b="1" dirty="0"/>
              <a:t>computational literacy</a:t>
            </a:r>
            <a:r>
              <a:rPr lang="en-US" sz="2600" dirty="0"/>
              <a:t> and describe its three interconnected components — material, cognitive, and social</a:t>
            </a:r>
          </a:p>
          <a:p>
            <a:r>
              <a:rPr lang="en-US" sz="2600" dirty="0"/>
              <a:t>Articulate </a:t>
            </a:r>
            <a:r>
              <a:rPr lang="en-US" sz="2600" b="1" dirty="0"/>
              <a:t>why computational skills are essential</a:t>
            </a:r>
            <a:r>
              <a:rPr lang="en-US" sz="2600" dirty="0"/>
              <a:t> for the next generation of biochemistry and molecular biology students</a:t>
            </a:r>
          </a:p>
          <a:p>
            <a:r>
              <a:rPr lang="en-US" sz="2600" dirty="0"/>
              <a:t>Identify </a:t>
            </a:r>
            <a:r>
              <a:rPr lang="en-US" sz="2600" b="1" dirty="0"/>
              <a:t>three major barriers</a:t>
            </a:r>
            <a:r>
              <a:rPr lang="en-US" sz="2600" dirty="0"/>
              <a:t> that prevent faculty from incorporating coding into their BMB courses</a:t>
            </a:r>
          </a:p>
          <a:p>
            <a:r>
              <a:rPr lang="en-US" sz="2600" dirty="0"/>
              <a:t>Explain how the </a:t>
            </a:r>
            <a:r>
              <a:rPr lang="en-US" sz="2600" b="1" dirty="0"/>
              <a:t>TPACK framework</a:t>
            </a:r>
            <a:r>
              <a:rPr lang="en-US" sz="2600" dirty="0"/>
              <a:t> maps the knowledge faculty need to teach coding effectively in a BMB context</a:t>
            </a:r>
          </a:p>
          <a:p>
            <a:r>
              <a:rPr lang="en-US" sz="2600" dirty="0"/>
              <a:t>Describe at least </a:t>
            </a:r>
            <a:r>
              <a:rPr lang="en-US" sz="2600" b="1" dirty="0"/>
              <a:t>two pedagogical strategies</a:t>
            </a:r>
            <a:r>
              <a:rPr lang="en-US" sz="2600" dirty="0"/>
              <a:t> — including notebook-based learning and live coding — that make teaching coding accessible to beginners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3FD0A-5819-71E3-93B6-4A4CEC07E152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B44D2-159C-86E4-7084-51242717F98F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By the End of This Presentation, You Will Be Able To...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75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Elephant in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519" y="1215804"/>
            <a:ext cx="7940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E75B6"/>
                </a:solidFill>
              </a:rPr>
              <a:t>Should We Be Teaching Coding to Life Scientists?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04040"/>
                </a:solidFill>
              </a:rPr>
              <a:t>• Many of us were trained without coding</a:t>
            </a:r>
          </a:p>
          <a:p>
            <a:r>
              <a:rPr sz="1700">
                <a:solidFill>
                  <a:srgbClr val="404040"/>
                </a:solidFill>
              </a:rPr>
              <a:t>• Many of our students will work in fields that require it</a:t>
            </a:r>
          </a:p>
          <a:p>
            <a:r>
              <a:rPr sz="1700">
                <a:solidFill>
                  <a:srgbClr val="404040"/>
                </a:solidFill>
              </a:rPr>
              <a:t>• Most BMB faculty believe coding is important — but don't teach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5086" y="2661907"/>
            <a:ext cx="3566160" cy="1534186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6526" y="2707627"/>
            <a:ext cx="3383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dirty="0">
                <a:solidFill>
                  <a:srgbClr val="FFFFFF"/>
                </a:solidFill>
              </a:rPr>
              <a:t>62%</a:t>
            </a:r>
            <a:r>
              <a:rPr sz="1400" b="0" dirty="0">
                <a:solidFill>
                  <a:srgbClr val="FFFFFF"/>
                </a:solidFill>
              </a:rPr>
              <a:t>
</a:t>
            </a:r>
            <a:r>
              <a:rPr b="0" dirty="0">
                <a:solidFill>
                  <a:srgbClr val="FFFFFF"/>
                </a:solidFill>
              </a:rPr>
              <a:t>have NEVER run a coding
activity in their courses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E541DFD-C492-EE93-F2B8-F3EEE0AC6B22}"/>
              </a:ext>
            </a:extLst>
          </p:cNvPr>
          <p:cNvSpPr txBox="1">
            <a:spLocks/>
          </p:cNvSpPr>
          <p:nvPr/>
        </p:nvSpPr>
        <p:spPr>
          <a:xfrm>
            <a:off x="3100471" y="3289459"/>
            <a:ext cx="4578464" cy="82534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700" dirty="0"/>
              <a:t>of faculty survey respondents believe coding is important…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5334D6-1355-D2D4-747E-86F4851E61B2}"/>
              </a:ext>
            </a:extLst>
          </p:cNvPr>
          <p:cNvSpPr txBox="1"/>
          <p:nvPr/>
        </p:nvSpPr>
        <p:spPr>
          <a:xfrm>
            <a:off x="484505" y="2853414"/>
            <a:ext cx="2896362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350" b="1" dirty="0"/>
              <a:t>95%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CCF8F2-6E07-273C-F471-EACC2CF41E5B}"/>
              </a:ext>
            </a:extLst>
          </p:cNvPr>
          <p:cNvSpPr txBox="1">
            <a:spLocks/>
          </p:cNvSpPr>
          <p:nvPr/>
        </p:nvSpPr>
        <p:spPr>
          <a:xfrm>
            <a:off x="197726" y="4629931"/>
            <a:ext cx="7886700" cy="103015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dirty="0">
                <a:solidFill>
                  <a:schemeClr val="tx1"/>
                </a:solidFill>
              </a:rPr>
              <a:t>Yet faculty report insufficient preparation to teach it</a:t>
            </a:r>
          </a:p>
          <a:p>
            <a:pPr marL="0" indent="0">
              <a:buNone/>
            </a:pPr>
            <a:endParaRPr lang="en-US" sz="27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0CE264-EF9A-6C2A-EF45-0B151B502C41}"/>
              </a:ext>
            </a:extLst>
          </p:cNvPr>
          <p:cNvSpPr/>
          <p:nvPr/>
        </p:nvSpPr>
        <p:spPr>
          <a:xfrm>
            <a:off x="8185086" y="4430474"/>
            <a:ext cx="356616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35C355-B3DC-94E0-486F-408AC5B71005}"/>
              </a:ext>
            </a:extLst>
          </p:cNvPr>
          <p:cNvSpPr txBox="1"/>
          <p:nvPr/>
        </p:nvSpPr>
        <p:spPr>
          <a:xfrm>
            <a:off x="8225483" y="4608889"/>
            <a:ext cx="3461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Training faculty to teach computation is essential for sustaining the research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Is Computational Literacy?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It's More Than Just Writing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20142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According to </a:t>
            </a:r>
            <a:r>
              <a:rPr lang="en-US" dirty="0" err="1"/>
              <a:t>diSessa</a:t>
            </a:r>
            <a:r>
              <a:rPr lang="en-US" dirty="0"/>
              <a:t>…</a:t>
            </a:r>
          </a:p>
          <a:p>
            <a:pPr algn="ctr"/>
            <a:r>
              <a:rPr lang="en-US" b="1" dirty="0"/>
              <a:t>a new literacy </a:t>
            </a:r>
            <a:r>
              <a:rPr lang="en-US" dirty="0"/>
              <a:t>emerges when there is an </a:t>
            </a:r>
            <a:r>
              <a:rPr lang="en-US" b="1" dirty="0"/>
              <a:t>adoption</a:t>
            </a:r>
            <a:r>
              <a:rPr lang="en-US" dirty="0"/>
              <a:t> of some tool or way of reasoning by a </a:t>
            </a:r>
            <a:r>
              <a:rPr lang="en-US" b="1" dirty="0"/>
              <a:t>broad cultural group</a:t>
            </a:r>
          </a:p>
          <a:p>
            <a:r>
              <a:rPr b="0" dirty="0">
                <a:solidFill>
                  <a:srgbClr val="404040"/>
                </a:solidFill>
              </a:rPr>
              <a:t>
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365760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57860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365760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347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F3564"/>
                </a:solidFill>
              </a:rPr>
              <a:t>The ability to
read and write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65760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57860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Cognitive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200400"/>
            <a:ext cx="365760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3474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F3564"/>
                </a:solidFill>
              </a:rPr>
              <a:t>Applying computation
to analyze and
solve problems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560320"/>
            <a:ext cx="3657600" cy="59436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57860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Social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200400"/>
            <a:ext cx="365760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47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F3564"/>
                </a:solidFill>
              </a:rPr>
              <a:t>Communicating through
computation — e.g.,
commenting code,
collaborating</a:t>
            </a:r>
            <a:r>
              <a:rPr lang="en-US" sz="2000" b="0" dirty="0">
                <a:solidFill>
                  <a:srgbClr val="1F3564"/>
                </a:solidFill>
              </a:rPr>
              <a:t>, visualizing</a:t>
            </a:r>
            <a:endParaRPr sz="2000" b="0" dirty="0">
              <a:solidFill>
                <a:srgbClr val="1F356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5437554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Training in all three aspects is widely regarded as a 21st-century skill and improves student learning gains.</a:t>
            </a:r>
            <a:endParaRPr lang="en-US" b="0" dirty="0">
              <a:solidFill>
                <a:srgbClr val="40404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4F6986-A0C0-0DBD-B56C-D9CE32D063CD}"/>
              </a:ext>
            </a:extLst>
          </p:cNvPr>
          <p:cNvSpPr txBox="1"/>
          <p:nvPr/>
        </p:nvSpPr>
        <p:spPr>
          <a:xfrm>
            <a:off x="365760" y="6208494"/>
            <a:ext cx="22333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404040"/>
                </a:solidFill>
              </a:rPr>
              <a:t>(</a:t>
            </a:r>
            <a:r>
              <a:rPr lang="en-US" sz="1050" dirty="0" err="1">
                <a:solidFill>
                  <a:srgbClr val="404040"/>
                </a:solidFill>
              </a:rPr>
              <a:t>diSessa</a:t>
            </a:r>
            <a:r>
              <a:rPr lang="en-US" sz="1050" dirty="0">
                <a:solidFill>
                  <a:srgbClr val="404040"/>
                </a:solidFill>
              </a:rPr>
              <a:t>, 2001; </a:t>
            </a:r>
            <a:r>
              <a:rPr lang="en-US" sz="1050" dirty="0" err="1">
                <a:solidFill>
                  <a:srgbClr val="404040"/>
                </a:solidFill>
              </a:rPr>
              <a:t>Weintrop</a:t>
            </a:r>
            <a:r>
              <a:rPr lang="en-US" sz="1050" dirty="0">
                <a:solidFill>
                  <a:srgbClr val="404040"/>
                </a:solidFill>
              </a:rPr>
              <a:t> et al., 2016)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Computational Literacy Is a 21st-Century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84958"/>
            <a:ext cx="8961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Bioinformatics, computational biology, protein design, and NGS analysis all rely on computational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ASBMB recognizes computational skills as necessary for BMB curricula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Computational literacy allows scientists to develop models and test hypotheses rapidly and inexpensively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AlphaFold, AI-driven drug discovery, and large-scale genomics are already the present</a:t>
            </a:r>
            <a:endParaRPr lang="en-US" sz="1600"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Make America AI Ready (DOL) – AI literacy for the workforce</a:t>
            </a:r>
            <a:endParaRPr sz="1600" dirty="0">
              <a:solidFill>
                <a:srgbClr val="40404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326880" y="1584958"/>
            <a:ext cx="2560320" cy="3993255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676398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1F3564"/>
                </a:solidFill>
              </a:rPr>
              <a:t>Big Data
Moments in BMB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407918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F3564"/>
                </a:solidFill>
              </a:rPr>
              <a:t>▶  1990s: BLAST &amp; GenBank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066285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F3564"/>
                </a:solidFill>
              </a:rPr>
              <a:t>▶  2000s: Human Genome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724654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</a:rPr>
              <a:t>▶  2010s: NGS Revolution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438302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</a:rPr>
              <a:t>▶  2020: AlphaFold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504139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</a:rPr>
              <a:t>▶  Now: AI in drug design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DCC201FC-AFE1-B891-9CC2-14A1E0EA6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420" y="3524958"/>
            <a:ext cx="4372032" cy="1853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A1AC98-C87A-BCF3-AF0C-6582CD14EA1A}"/>
              </a:ext>
            </a:extLst>
          </p:cNvPr>
          <p:cNvSpPr txBox="1"/>
          <p:nvPr/>
        </p:nvSpPr>
        <p:spPr>
          <a:xfrm>
            <a:off x="5223180" y="5506982"/>
            <a:ext cx="266451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https://</a:t>
            </a:r>
            <a:r>
              <a:rPr lang="en-US" sz="1013" dirty="0" err="1"/>
              <a:t>doi.org</a:t>
            </a:r>
            <a:r>
              <a:rPr lang="en-US" sz="1013" dirty="0"/>
              <a:t>/10.1016/j.cocis.2023.101760</a:t>
            </a:r>
          </a:p>
        </p:txBody>
      </p:sp>
      <p:pic>
        <p:nvPicPr>
          <p:cNvPr id="18" name="Picture 6" descr="Molecular Docking - Drug Design Org">
            <a:extLst>
              <a:ext uri="{FF2B5EF4-FFF2-40B4-BE49-F238E27FC236}">
                <a16:creationId xmlns:a16="http://schemas.microsoft.com/office/drawing/2014/main" id="{C2CDA8C7-5C43-B3A2-D729-610ACB7F8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35" y="3403412"/>
            <a:ext cx="3543826" cy="21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F2D2980-70F2-F264-85D5-BCB34B028237}"/>
              </a:ext>
            </a:extLst>
          </p:cNvPr>
          <p:cNvSpPr txBox="1"/>
          <p:nvPr/>
        </p:nvSpPr>
        <p:spPr>
          <a:xfrm>
            <a:off x="679889" y="5646687"/>
            <a:ext cx="326871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https://</a:t>
            </a:r>
            <a:r>
              <a:rPr lang="en-US" sz="1013" dirty="0" err="1"/>
              <a:t>www.drugdesign.org</a:t>
            </a:r>
            <a:r>
              <a:rPr lang="en-US" sz="1013" dirty="0"/>
              <a:t>/chapters/molecular-docking/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Our Community Says It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Survey of BMB Faculty (January 2025)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5BAD9E-A254-4D4B-8DD4-79439844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12" y="1734841"/>
            <a:ext cx="7772400" cy="4444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07574-E072-72EB-2D1E-29682CDF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3429C5C-63E9-B44D-D32D-7DE992358DF8}"/>
              </a:ext>
            </a:extLst>
          </p:cNvPr>
          <p:cNvSpPr/>
          <p:nvPr/>
        </p:nvSpPr>
        <p:spPr>
          <a:xfrm>
            <a:off x="559577" y="1861466"/>
            <a:ext cx="5534834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1DBD86-0E4E-0A51-F3C4-EE27AC6A3AD9}"/>
              </a:ext>
            </a:extLst>
          </p:cNvPr>
          <p:cNvSpPr/>
          <p:nvPr/>
        </p:nvSpPr>
        <p:spPr>
          <a:xfrm>
            <a:off x="559577" y="3059771"/>
            <a:ext cx="5534833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28F379-9FD2-CBB7-C3A0-4E044BB61DEF}"/>
              </a:ext>
            </a:extLst>
          </p:cNvPr>
          <p:cNvSpPr/>
          <p:nvPr/>
        </p:nvSpPr>
        <p:spPr>
          <a:xfrm>
            <a:off x="559577" y="4258076"/>
            <a:ext cx="5534832" cy="1101054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985FC3-F0A7-F3E9-123E-F0B007F610D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A0EA7-DAFD-1E61-8CDE-F0567EC182AA}"/>
              </a:ext>
            </a:extLst>
          </p:cNvPr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Hasn't Coding Made It Into Most BMB Classrooms?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115D6-4446-5AA3-08F7-F8F20A1EEBD0}"/>
              </a:ext>
            </a:extLst>
          </p:cNvPr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2E75B6"/>
                </a:solidFill>
              </a:rPr>
              <a:t>Barriers to coding in the BMB classroom and how we are addressing the issue</a:t>
            </a:r>
            <a:endParaRPr sz="2400" b="1" dirty="0">
              <a:solidFill>
                <a:srgbClr val="2E75B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F7F642-24F8-7DA7-7ED5-1AE9C5FE0B97}"/>
              </a:ext>
            </a:extLst>
          </p:cNvPr>
          <p:cNvSpPr txBox="1"/>
          <p:nvPr/>
        </p:nvSpPr>
        <p:spPr>
          <a:xfrm>
            <a:off x="274320" y="6055009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04040"/>
                </a:solidFill>
              </a:rPr>
              <a:t>Carbone et al. (faculty barriers)</a:t>
            </a:r>
            <a:r>
              <a:rPr lang="en-US" sz="1200" b="0" dirty="0">
                <a:solidFill>
                  <a:srgbClr val="404040"/>
                </a:solidFill>
              </a:rPr>
              <a:t>, </a:t>
            </a:r>
            <a:r>
              <a:rPr sz="1200" b="0" dirty="0">
                <a:solidFill>
                  <a:srgbClr val="404040"/>
                </a:solidFill>
              </a:rPr>
              <a:t>Van Wyngaarden et al.</a:t>
            </a:r>
            <a:r>
              <a:rPr lang="en-US" sz="1200" b="0" dirty="0">
                <a:solidFill>
                  <a:srgbClr val="404040"/>
                </a:solidFill>
              </a:rPr>
              <a:t>, </a:t>
            </a:r>
            <a:r>
              <a:rPr sz="1200" b="0" dirty="0">
                <a:solidFill>
                  <a:srgbClr val="404040"/>
                </a:solidFill>
              </a:rPr>
              <a:t>Derus &amp; Ali (computing facilities)</a:t>
            </a:r>
          </a:p>
        </p:txBody>
      </p:sp>
      <p:pic>
        <p:nvPicPr>
          <p:cNvPr id="18" name="Picture 4" descr="The Event Manager's Guide to Diversity, Equity, and Inclusivity | eShow">
            <a:extLst>
              <a:ext uri="{FF2B5EF4-FFF2-40B4-BE49-F238E27FC236}">
                <a16:creationId xmlns:a16="http://schemas.microsoft.com/office/drawing/2014/main" id="{DE87B132-BBF8-3314-8185-0729E6772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19" y="2041777"/>
            <a:ext cx="4470286" cy="295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A2EADF-30FA-3342-C759-7AD256DAF0DD}"/>
              </a:ext>
            </a:extLst>
          </p:cNvPr>
          <p:cNvSpPr txBox="1"/>
          <p:nvPr/>
        </p:nvSpPr>
        <p:spPr>
          <a:xfrm>
            <a:off x="7351655" y="5109513"/>
            <a:ext cx="3010013" cy="40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13" dirty="0"/>
              <a:t>https://</a:t>
            </a:r>
            <a:r>
              <a:rPr lang="en-US" sz="1013" dirty="0" err="1"/>
              <a:t>goeshow.com</a:t>
            </a:r>
            <a:r>
              <a:rPr lang="en-US" sz="1013" dirty="0"/>
              <a:t>/the-event-managers-guide-to-diversity-equity-and-inclusivity/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EA7C52-86A1-2D89-AC32-3CED132B8B83}"/>
              </a:ext>
            </a:extLst>
          </p:cNvPr>
          <p:cNvSpPr txBox="1">
            <a:spLocks/>
          </p:cNvSpPr>
          <p:nvPr/>
        </p:nvSpPr>
        <p:spPr>
          <a:xfrm>
            <a:off x="674397" y="2100355"/>
            <a:ext cx="5683567" cy="323608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Coding is perceived as complex</a:t>
            </a:r>
          </a:p>
          <a:p>
            <a:pPr marL="0" indent="0">
              <a:buFont typeface="Arial"/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Access to coding is not inclusive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We are reluctant to teach what we don’t know</a:t>
            </a:r>
          </a:p>
        </p:txBody>
      </p:sp>
    </p:spTree>
    <p:extLst>
      <p:ext uri="{BB962C8B-B14F-4D97-AF65-F5344CB8AC3E}">
        <p14:creationId xmlns:p14="http://schemas.microsoft.com/office/powerpoint/2010/main" val="2514356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Barrier 1: Coding Feels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"I don't even know where to start"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404040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62770"/>
            <a:ext cx="5728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Students must learn syntax AND how to apply it to specific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Perception of difficulty and complexity remains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70AD47"/>
                </a:solidFill>
              </a:rPr>
              <a:t>The solution — notebook-based learning: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04403"/>
            <a:ext cx="58158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404040"/>
                </a:solidFill>
              </a:rPr>
              <a:t>Colab</a:t>
            </a:r>
            <a:r>
              <a:rPr dirty="0">
                <a:solidFill>
                  <a:srgbClr val="404040"/>
                </a:solidFill>
              </a:rPr>
              <a:t> allows code to be provided in </a:t>
            </a:r>
            <a:r>
              <a:rPr b="1" i="1" dirty="0">
                <a:solidFill>
                  <a:srgbClr val="404040"/>
                </a:solidFill>
              </a:rPr>
              <a:t>ready-to-run</a:t>
            </a:r>
            <a:r>
              <a:rPr dirty="0">
                <a:solidFill>
                  <a:srgbClr val="404040"/>
                </a:solidFill>
              </a:rPr>
              <a:t>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Code is run in small sections → incremental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Students learn coding while performing contextual BMB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Notebooks are simple to run and modifiable for new problems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84578" y="1371600"/>
            <a:ext cx="5111181" cy="4572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3591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4015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7914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2B590C4-0E5B-5ABC-ABB8-227FCD7182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317"/>
          <a:stretch>
            <a:fillRect/>
          </a:stretch>
        </p:blipFill>
        <p:spPr>
          <a:xfrm>
            <a:off x="6763731" y="1461532"/>
            <a:ext cx="4952874" cy="43863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47FD0C-9933-4496-9CEB-7CDDC77810EE}"/>
              </a:ext>
            </a:extLst>
          </p:cNvPr>
          <p:cNvSpPr txBox="1"/>
          <p:nvPr/>
        </p:nvSpPr>
        <p:spPr>
          <a:xfrm>
            <a:off x="365760" y="6012267"/>
            <a:ext cx="10787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McGettrick, The Computer Journal, Laakso, et al. Journal of Information Technology Education. Innovations in Practice, Ochkov, et al. VI International Conference on Information Technologies in Engineering Education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Barrier 2: Access and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70AD47"/>
                </a:solidFill>
              </a:rPr>
              <a:t>"Not everyone has the same resources"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04040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0350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Computer access at higher education institutions varies widely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Some students cannot afford their own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School labs may use Mac or Windows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dirty="0">
                <a:solidFill>
                  <a:srgbClr val="404040"/>
                </a:solidFill>
              </a:rPr>
              <a:t>disenfranchising some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Poorly functioning facilities detract from learning to code </a:t>
            </a:r>
            <a:r>
              <a:rPr sz="1200" dirty="0">
                <a:solidFill>
                  <a:srgbClr val="404040"/>
                </a:solidFill>
              </a:rPr>
              <a:t>(Derus &amp; Ali</a:t>
            </a:r>
            <a:r>
              <a:rPr lang="en-US" sz="1200" dirty="0">
                <a:solidFill>
                  <a:srgbClr val="404040"/>
                </a:solidFill>
              </a:rPr>
              <a:t>, </a:t>
            </a:r>
            <a:r>
              <a:rPr lang="en-US" sz="1200" dirty="0"/>
              <a:t>ICCIE 2012)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solidFill>
                <a:srgbClr val="40404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4343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70AD47"/>
                </a:solidFill>
              </a:rPr>
              <a:t>The solution — cloud-based coding: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3168"/>
            <a:ext cx="6035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Google </a:t>
            </a:r>
            <a:r>
              <a:rPr dirty="0" err="1">
                <a:solidFill>
                  <a:srgbClr val="404040"/>
                </a:solidFill>
              </a:rPr>
              <a:t>Colab</a:t>
            </a:r>
            <a:r>
              <a:rPr dirty="0">
                <a:solidFill>
                  <a:srgbClr val="404040"/>
                </a:solidFill>
              </a:rPr>
              <a:t> runs in any browser</a:t>
            </a:r>
            <a:r>
              <a:rPr lang="en-US" dirty="0">
                <a:solidFill>
                  <a:srgbClr val="404040"/>
                </a:solidFill>
              </a:rPr>
              <a:t>, so </a:t>
            </a:r>
            <a:r>
              <a:rPr dirty="0">
                <a:solidFill>
                  <a:srgbClr val="404040"/>
                </a:solidFill>
              </a:rPr>
              <a:t>no installation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Works on any operating system and most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Free</a:t>
            </a:r>
            <a:r>
              <a:rPr lang="en-US" dirty="0">
                <a:solidFill>
                  <a:srgbClr val="404040"/>
                </a:solidFill>
              </a:rPr>
              <a:t>! N</a:t>
            </a:r>
            <a:r>
              <a:rPr dirty="0">
                <a:solidFill>
                  <a:srgbClr val="404040"/>
                </a:solidFill>
              </a:rPr>
              <a:t>o cost barrier for students or institutions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737360"/>
            <a:ext cx="5303520" cy="4023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4810164"/>
            <a:ext cx="5120640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4946706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Students </a:t>
            </a:r>
            <a:r>
              <a:rPr sz="1400" b="1" dirty="0">
                <a:solidFill>
                  <a:srgbClr val="FFFFFF"/>
                </a:solidFill>
              </a:rPr>
              <a:t>at any institution can solve</a:t>
            </a:r>
            <a:endParaRPr lang="en-US" sz="1400" b="1" dirty="0">
              <a:solidFill>
                <a:srgbClr val="FFFFFF"/>
              </a:solidFill>
            </a:endParaRP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interesting biological problems for nearly</a:t>
            </a:r>
            <a:r>
              <a:rPr lang="en-US" sz="1400" b="1" dirty="0">
                <a:solidFill>
                  <a:srgbClr val="FFFFFF"/>
                </a:solidFill>
              </a:rPr>
              <a:t> no cost!</a:t>
            </a:r>
            <a:endParaRPr sz="1400" b="1" dirty="0">
              <a:solidFill>
                <a:srgbClr val="FFFFFF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9EE1324-04EB-A471-96BE-78E3235AB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120" y="1828800"/>
            <a:ext cx="5120491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E5A7392-7BEB-4B5E-BBF0-5BFDCA421BEB}"/>
              </a:ext>
            </a:extLst>
          </p:cNvPr>
          <p:cNvSpPr txBox="1"/>
          <p:nvPr/>
        </p:nvSpPr>
        <p:spPr>
          <a:xfrm>
            <a:off x="9922395" y="4453905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Credit: Zach Graves, </a:t>
            </a:r>
            <a:r>
              <a:rPr lang="en-US" sz="1100" dirty="0" err="1">
                <a:solidFill>
                  <a:schemeClr val="bg1"/>
                </a:solidFill>
              </a:rPr>
              <a:t>Unsplash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AB1E2E-70B0-C540-21C5-77A48C483B5F}"/>
              </a:ext>
            </a:extLst>
          </p:cNvPr>
          <p:cNvSpPr/>
          <p:nvPr/>
        </p:nvSpPr>
        <p:spPr>
          <a:xfrm>
            <a:off x="6666743" y="2083562"/>
            <a:ext cx="5303520" cy="3622089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Barrier 3: Faculty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7700"/>
                </a:solidFill>
              </a:rPr>
              <a:t>"I can't teach what I don't know"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404040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6692"/>
            <a:ext cx="62267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Lack of instructor confidence</a:t>
            </a:r>
            <a:endParaRPr sz="1100"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Lack of time, training, and professional development</a:t>
            </a:r>
            <a:r>
              <a:rPr lang="en-US" dirty="0">
                <a:solidFill>
                  <a:srgbClr val="404040"/>
                </a:solidFill>
              </a:rPr>
              <a:t> opportunities</a:t>
            </a:r>
            <a:endParaRPr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Most BMB faculty have little experience training others to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The solution — turnkey materials + community: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33087"/>
            <a:ext cx="62267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Pre-built </a:t>
            </a:r>
            <a:r>
              <a:rPr dirty="0" err="1">
                <a:solidFill>
                  <a:srgbClr val="404040"/>
                </a:solidFill>
              </a:rPr>
              <a:t>Colab</a:t>
            </a:r>
            <a:r>
              <a:rPr dirty="0">
                <a:solidFill>
                  <a:srgbClr val="404040"/>
                </a:solidFill>
              </a:rPr>
              <a:t> notebooks </a:t>
            </a:r>
            <a:r>
              <a:rPr lang="en-US" dirty="0">
                <a:solidFill>
                  <a:srgbClr val="404040"/>
                </a:solidFill>
              </a:rPr>
              <a:t>are </a:t>
            </a:r>
            <a:r>
              <a:rPr dirty="0">
                <a:solidFill>
                  <a:srgbClr val="404040"/>
                </a:solidFill>
              </a:rPr>
              <a:t>simple to run</a:t>
            </a:r>
            <a:r>
              <a:rPr lang="en-US" dirty="0">
                <a:solidFill>
                  <a:srgbClr val="404040"/>
                </a:solidFill>
              </a:rPr>
              <a:t> and</a:t>
            </a:r>
            <a:r>
              <a:rPr dirty="0">
                <a:solidFill>
                  <a:srgbClr val="404040"/>
                </a:solidFill>
              </a:rPr>
              <a:t> modifiable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Live coding: instructor writes </a:t>
            </a:r>
            <a:r>
              <a:rPr lang="en-US" dirty="0">
                <a:solidFill>
                  <a:srgbClr val="404040"/>
                </a:solidFill>
              </a:rPr>
              <a:t>and runs </a:t>
            </a:r>
            <a:r>
              <a:rPr dirty="0">
                <a:solidFill>
                  <a:srgbClr val="404040"/>
                </a:solidFill>
              </a:rPr>
              <a:t>code step by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A growing community of BMB faculty facing the same challenges</a:t>
            </a:r>
            <a:r>
              <a:rPr lang="en-US" dirty="0">
                <a:solidFill>
                  <a:srgbClr val="404040"/>
                </a:solidFill>
              </a:rPr>
              <a:t> </a:t>
            </a:r>
            <a:endParaRPr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You don't need to be an expert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dirty="0">
                <a:solidFill>
                  <a:srgbClr val="404040"/>
                </a:solidFill>
              </a:rPr>
              <a:t>you </a:t>
            </a:r>
            <a:r>
              <a:rPr lang="en-US" dirty="0">
                <a:solidFill>
                  <a:srgbClr val="404040"/>
                </a:solidFill>
              </a:rPr>
              <a:t>just </a:t>
            </a:r>
            <a:r>
              <a:rPr dirty="0">
                <a:solidFill>
                  <a:srgbClr val="404040"/>
                </a:solidFill>
              </a:rPr>
              <a:t>need to be one step ahead</a:t>
            </a:r>
          </a:p>
        </p:txBody>
      </p:sp>
      <p:pic>
        <p:nvPicPr>
          <p:cNvPr id="2050" name="Picture 2" descr="man in black crew neck t-shirt using black laptop computer">
            <a:extLst>
              <a:ext uri="{FF2B5EF4-FFF2-40B4-BE49-F238E27FC236}">
                <a16:creationId xmlns:a16="http://schemas.microsoft.com/office/drawing/2014/main" id="{DC0B5059-FECC-0EEB-AEDC-956AFB1ED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414" y="2204263"/>
            <a:ext cx="5083922" cy="338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5A26C6-F624-9DDF-5BEA-AD6128D5B136}"/>
              </a:ext>
            </a:extLst>
          </p:cNvPr>
          <p:cNvSpPr txBox="1"/>
          <p:nvPr/>
        </p:nvSpPr>
        <p:spPr>
          <a:xfrm>
            <a:off x="10020237" y="5300715"/>
            <a:ext cx="18998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Credit: </a:t>
            </a:r>
            <a:r>
              <a:rPr lang="en-US" sz="1100" dirty="0" err="1">
                <a:solidFill>
                  <a:schemeClr val="bg1"/>
                </a:solidFill>
              </a:rPr>
              <a:t>Wonderlane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Unsplash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20178-78F8-8090-4E1E-04158C2198B7}"/>
              </a:ext>
            </a:extLst>
          </p:cNvPr>
          <p:cNvSpPr txBox="1"/>
          <p:nvPr/>
        </p:nvSpPr>
        <p:spPr>
          <a:xfrm>
            <a:off x="365760" y="6212541"/>
            <a:ext cx="6112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404040"/>
                </a:solidFill>
              </a:rPr>
              <a:t>Carbone et al. </a:t>
            </a:r>
            <a:r>
              <a:rPr lang="en-US" sz="1050" i="1" dirty="0"/>
              <a:t>Higher Education</a:t>
            </a:r>
            <a:r>
              <a:rPr lang="en-US" sz="1050" dirty="0"/>
              <a:t> </a:t>
            </a:r>
            <a:r>
              <a:rPr lang="en-US" sz="1050" i="1" dirty="0"/>
              <a:t>Research &amp; Development,</a:t>
            </a:r>
            <a:r>
              <a:rPr lang="en-US" sz="1050" dirty="0">
                <a:solidFill>
                  <a:srgbClr val="404040"/>
                </a:solidFill>
              </a:rPr>
              <a:t> Van Wyngaarden et al. </a:t>
            </a:r>
            <a:r>
              <a:rPr lang="en-US" sz="1050" i="1" dirty="0"/>
              <a:t>Trends in Higher Education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Do You Actually Need to Know?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The TPACK Framework — Mishra &amp; Koehler (2006)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05" y="1736309"/>
            <a:ext cx="5626715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1F3564"/>
                </a:solidFill>
              </a:rPr>
              <a:t>PK - </a:t>
            </a:r>
            <a:r>
              <a:rPr sz="2000" b="0" dirty="0">
                <a:solidFill>
                  <a:srgbClr val="1F3564"/>
                </a:solidFill>
              </a:rPr>
              <a:t>Expertise in teaching:
active learning, flipped classrooms,</a:t>
            </a:r>
            <a:r>
              <a:rPr lang="en-US" sz="2000" b="0" dirty="0">
                <a:solidFill>
                  <a:srgbClr val="1F3564"/>
                </a:solidFill>
              </a:rPr>
              <a:t> </a:t>
            </a:r>
            <a:r>
              <a:rPr sz="2000" b="0" dirty="0">
                <a:solidFill>
                  <a:srgbClr val="1F3564"/>
                </a:solidFill>
              </a:rPr>
              <a:t>live coding, scaffolding</a:t>
            </a:r>
            <a:endParaRPr lang="en-US" sz="2000" b="0" dirty="0">
              <a:solidFill>
                <a:srgbClr val="1F3564"/>
              </a:solidFill>
            </a:endParaRPr>
          </a:p>
          <a:p>
            <a:pPr algn="l"/>
            <a:endParaRPr lang="en-US" sz="2000" dirty="0">
              <a:solidFill>
                <a:srgbClr val="1F3564"/>
              </a:solidFill>
            </a:endParaRPr>
          </a:p>
          <a:p>
            <a:r>
              <a:rPr lang="en-US" sz="2000" dirty="0">
                <a:solidFill>
                  <a:srgbClr val="1F3564"/>
                </a:solidFill>
              </a:rPr>
              <a:t>CK - Expert BMB knowledge:
enzymes, proteins, genomics, biochemical pathways</a:t>
            </a:r>
          </a:p>
          <a:p>
            <a:endParaRPr lang="en-US" sz="2000" dirty="0">
              <a:solidFill>
                <a:srgbClr val="1F3564"/>
              </a:solidFill>
            </a:endParaRPr>
          </a:p>
          <a:p>
            <a:r>
              <a:rPr lang="en-US" sz="2000" dirty="0">
                <a:solidFill>
                  <a:srgbClr val="1F3564"/>
                </a:solidFill>
              </a:rPr>
              <a:t>TK - Knowledge of technology:
</a:t>
            </a:r>
            <a:r>
              <a:rPr lang="en-US" sz="2000" dirty="0" err="1">
                <a:solidFill>
                  <a:srgbClr val="1F3564"/>
                </a:solidFill>
              </a:rPr>
              <a:t>Colab</a:t>
            </a:r>
            <a:r>
              <a:rPr lang="en-US" sz="2000" dirty="0">
                <a:solidFill>
                  <a:srgbClr val="1F3564"/>
                </a:solidFill>
              </a:rPr>
              <a:t>, GitHub, Python, BLAST, visualization tools</a:t>
            </a:r>
          </a:p>
          <a:p>
            <a:pPr algn="l"/>
            <a:endParaRPr sz="1300" b="0" dirty="0">
              <a:solidFill>
                <a:srgbClr val="1F3564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11430000" cy="11658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93792"/>
            <a:ext cx="110642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Important</a:t>
            </a:r>
            <a:r>
              <a:rPr sz="2000" b="1" dirty="0">
                <a:solidFill>
                  <a:srgbClr val="FFFFFF"/>
                </a:solidFill>
              </a:rPr>
              <a:t> intersections:</a:t>
            </a:r>
            <a:r>
              <a:rPr sz="2000" b="0" dirty="0">
                <a:solidFill>
                  <a:srgbClr val="FFFFFF"/>
                </a:solidFill>
              </a:rPr>
              <a:t>
TCK = using </a:t>
            </a:r>
            <a:r>
              <a:rPr sz="2000" b="0" dirty="0" err="1">
                <a:solidFill>
                  <a:srgbClr val="FFFFFF"/>
                </a:solidFill>
              </a:rPr>
              <a:t>Colab</a:t>
            </a:r>
            <a:r>
              <a:rPr sz="2000" b="0" dirty="0">
                <a:solidFill>
                  <a:srgbClr val="FFFFFF"/>
                </a:solidFill>
              </a:rPr>
              <a:t> + Python for BMB tasks  |  TPK = knowing HOW to use these tools to deepen student learning  |  TPACK = all three together</a:t>
            </a:r>
          </a:p>
        </p:txBody>
      </p:sp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4B80296C-7068-0EE1-3506-2A1E9CAF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7104364" y="1171101"/>
            <a:ext cx="3650742" cy="365074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7DE8333-7D30-ABA9-2AA8-016FAC90C96D}"/>
              </a:ext>
            </a:extLst>
          </p:cNvPr>
          <p:cNvSpPr txBox="1"/>
          <p:nvPr/>
        </p:nvSpPr>
        <p:spPr>
          <a:xfrm>
            <a:off x="6916689" y="4840436"/>
            <a:ext cx="40260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Reproduced by permission of the publisher, © 2012 by </a:t>
            </a:r>
            <a:r>
              <a:rPr lang="en-US" sz="1100" dirty="0" err="1"/>
              <a:t>tpack.org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Where This Workshop Fits in TPACK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12" y="1472184"/>
            <a:ext cx="5029200" cy="62179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539432" y="1517904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</a:rPr>
              <a:t>Today you will </a:t>
            </a:r>
            <a:r>
              <a:rPr lang="en-US" b="1" dirty="0">
                <a:solidFill>
                  <a:srgbClr val="FFFFFF"/>
                </a:solidFill>
              </a:rPr>
              <a:t>learn</a:t>
            </a:r>
            <a:r>
              <a:rPr b="1" dirty="0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0072" y="1472184"/>
            <a:ext cx="2286000" cy="62179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705792" y="1517904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TPACK 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8037512" y="1472184"/>
            <a:ext cx="3657600" cy="62179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083232" y="1517904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12" y="2130552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539432" y="2135928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GitHub + </a:t>
            </a:r>
            <a:r>
              <a:rPr b="0" dirty="0" err="1">
                <a:solidFill>
                  <a:srgbClr val="1F3564"/>
                </a:solidFill>
              </a:rPr>
              <a:t>Colab</a:t>
            </a:r>
            <a:r>
              <a:rPr b="0" dirty="0">
                <a:solidFill>
                  <a:srgbClr val="1F3564"/>
                </a:solidFill>
              </a:rPr>
              <a:t> </a:t>
            </a:r>
            <a:r>
              <a:rPr lang="en-US" b="0" dirty="0">
                <a:solidFill>
                  <a:srgbClr val="1F3564"/>
                </a:solidFill>
              </a:rPr>
              <a:t>+ Python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0072" y="2130552"/>
            <a:ext cx="2286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5705792" y="2135928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TK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12" y="2130552"/>
            <a:ext cx="3657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8083232" y="2135928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Introductory Lectures and Demonstrations </a:t>
            </a:r>
            <a:r>
              <a:rPr lang="en-US" dirty="0">
                <a:solidFill>
                  <a:srgbClr val="1F3564"/>
                </a:solidFill>
              </a:rPr>
              <a:t>Notebook 001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3712" y="2788920"/>
            <a:ext cx="50292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539432" y="2807744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Python for BMB data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072" y="2788920"/>
            <a:ext cx="22860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5705792" y="2807744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F3564"/>
                </a:solidFill>
              </a:rPr>
              <a:t>TCK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12" y="2788920"/>
            <a:ext cx="36576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8083232" y="2807744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Notebooks 002-003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12" y="3447288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539432" y="3466111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F3564"/>
                </a:solidFill>
              </a:rPr>
              <a:t>Linear regression workflow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0072" y="3447288"/>
            <a:ext cx="2286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5705792" y="3466111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TCK</a:t>
            </a:r>
            <a:r>
              <a:rPr lang="en-US" b="0" dirty="0">
                <a:solidFill>
                  <a:srgbClr val="1F3564"/>
                </a:solidFill>
              </a:rPr>
              <a:t>, TPK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37512" y="3447288"/>
            <a:ext cx="3657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8083232" y="3466111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Notebook 004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12" y="4105656"/>
            <a:ext cx="50292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539432" y="4117756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Developing new</a:t>
            </a:r>
            <a:r>
              <a:rPr b="0" dirty="0">
                <a:solidFill>
                  <a:srgbClr val="1F3564"/>
                </a:solidFill>
              </a:rPr>
              <a:t> notebook</a:t>
            </a:r>
            <a:r>
              <a:rPr lang="en-US" b="0" dirty="0">
                <a:solidFill>
                  <a:srgbClr val="1F3564"/>
                </a:solidFill>
              </a:rPr>
              <a:t>s</a:t>
            </a:r>
            <a:r>
              <a:rPr b="0" dirty="0">
                <a:solidFill>
                  <a:srgbClr val="1F3564"/>
                </a:solidFill>
              </a:rPr>
              <a:t> for your class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0072" y="4105656"/>
            <a:ext cx="22860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5705792" y="4117756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TK, TPK, TCK, TPACK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037512" y="4105656"/>
            <a:ext cx="3657600" cy="62179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8083232" y="4117756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Future Workshops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93712" y="4764023"/>
            <a:ext cx="5029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539432" y="4755951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Using </a:t>
            </a:r>
            <a:r>
              <a:rPr b="0" dirty="0">
                <a:solidFill>
                  <a:srgbClr val="1F3564"/>
                </a:solidFill>
              </a:rPr>
              <a:t>AI tools</a:t>
            </a:r>
            <a:r>
              <a:rPr lang="en-US" b="0" dirty="0">
                <a:solidFill>
                  <a:srgbClr val="1F3564"/>
                </a:solidFill>
              </a:rPr>
              <a:t> </a:t>
            </a:r>
            <a:r>
              <a:rPr b="0" dirty="0">
                <a:solidFill>
                  <a:srgbClr val="1F3564"/>
                </a:solidFill>
              </a:rPr>
              <a:t>responsibly</a:t>
            </a:r>
            <a:r>
              <a:rPr lang="en-US" b="0" dirty="0">
                <a:solidFill>
                  <a:srgbClr val="1F3564"/>
                </a:solidFill>
              </a:rPr>
              <a:t> for generating assignments and engaging students 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0072" y="4764023"/>
            <a:ext cx="2286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705792" y="4755951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F3564"/>
                </a:solidFill>
              </a:rPr>
              <a:t>TK</a:t>
            </a:r>
            <a:r>
              <a:rPr lang="en-US" b="0" dirty="0">
                <a:solidFill>
                  <a:srgbClr val="1F3564"/>
                </a:solidFill>
              </a:rPr>
              <a:t>, </a:t>
            </a:r>
            <a:r>
              <a:rPr b="0" dirty="0">
                <a:solidFill>
                  <a:srgbClr val="1F3564"/>
                </a:solidFill>
              </a:rPr>
              <a:t>T</a:t>
            </a:r>
            <a:r>
              <a:rPr lang="en-US" b="0" dirty="0">
                <a:solidFill>
                  <a:srgbClr val="1F3564"/>
                </a:solidFill>
              </a:rPr>
              <a:t>P</a:t>
            </a:r>
            <a:r>
              <a:rPr b="0" dirty="0">
                <a:solidFill>
                  <a:srgbClr val="1F3564"/>
                </a:solidFill>
              </a:rPr>
              <a:t>K</a:t>
            </a:r>
            <a:r>
              <a:rPr lang="en-US" b="0" dirty="0">
                <a:solidFill>
                  <a:srgbClr val="1F3564"/>
                </a:solidFill>
              </a:rPr>
              <a:t>, TCK, TPACK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037512" y="4764023"/>
            <a:ext cx="3657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/>
          <p:cNvSpPr txBox="1"/>
          <p:nvPr/>
        </p:nvSpPr>
        <p:spPr>
          <a:xfrm>
            <a:off x="8083232" y="4755951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1F3564"/>
                </a:solidFill>
              </a:rPr>
              <a:t>Future Workshops</a:t>
            </a:r>
            <a:endParaRPr b="0" dirty="0">
              <a:solidFill>
                <a:srgbClr val="1F3564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9412" y="5534476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F3564"/>
                </a:solidFill>
              </a:rPr>
              <a:t>Our goal: provide faculty with the T</a:t>
            </a:r>
            <a:r>
              <a:rPr lang="en-US" sz="2000" b="1" dirty="0">
                <a:solidFill>
                  <a:srgbClr val="1F3564"/>
                </a:solidFill>
              </a:rPr>
              <a:t>PA</a:t>
            </a:r>
            <a:r>
              <a:rPr sz="2000" b="1" dirty="0">
                <a:solidFill>
                  <a:srgbClr val="1F3564"/>
                </a:solidFill>
              </a:rPr>
              <a:t>CK of BMB coding </a:t>
            </a:r>
            <a:r>
              <a:rPr lang="en-US" sz="2000" b="1" dirty="0">
                <a:solidFill>
                  <a:srgbClr val="1F3564"/>
                </a:solidFill>
              </a:rPr>
              <a:t>to</a:t>
            </a:r>
            <a:r>
              <a:rPr sz="2000" b="1" dirty="0">
                <a:solidFill>
                  <a:srgbClr val="1F3564"/>
                </a:solidFill>
              </a:rPr>
              <a:t> increase student learning.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How This Workshop Is 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5549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Pedagogy in practice — four guiding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14927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91492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1492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E75B6"/>
                </a:solidFill>
              </a:rPr>
              <a:t>Context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55007"/>
            <a:ext cx="46685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Concepts </a:t>
            </a:r>
            <a:r>
              <a:rPr b="0" dirty="0">
                <a:solidFill>
                  <a:srgbClr val="404040"/>
                </a:solidFill>
              </a:rPr>
              <a:t>taught using BMB examples:
Michaelis-Menten kinetics, Bradford assays,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protein sequences. 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14927"/>
            <a:ext cx="64008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91492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91492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AD47"/>
                </a:solidFill>
              </a:rPr>
              <a:t>Incremental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555007"/>
            <a:ext cx="46685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Introduce online resources.</a:t>
            </a:r>
          </a:p>
          <a:p>
            <a:pPr algn="l"/>
            <a:r>
              <a:rPr lang="en-US" dirty="0">
                <a:solidFill>
                  <a:srgbClr val="404040"/>
                </a:solidFill>
              </a:rPr>
              <a:t>R</a:t>
            </a:r>
            <a:r>
              <a:rPr b="0" dirty="0">
                <a:solidFill>
                  <a:srgbClr val="404040"/>
                </a:solidFill>
              </a:rPr>
              <a:t>un </a:t>
            </a:r>
            <a:r>
              <a:rPr lang="en-US" b="0" dirty="0">
                <a:solidFill>
                  <a:srgbClr val="404040"/>
                </a:solidFill>
              </a:rPr>
              <a:t>code </a:t>
            </a:r>
            <a:r>
              <a:rPr b="0" dirty="0">
                <a:solidFill>
                  <a:srgbClr val="404040"/>
                </a:solidFill>
              </a:rPr>
              <a:t>in small sections.
Scaffolded notebooks allow modification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without starting from scratch.
Every participant makes progress.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55207"/>
            <a:ext cx="640080" cy="64008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415520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5520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700"/>
                </a:solidFill>
              </a:rPr>
              <a:t>Live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795287"/>
            <a:ext cx="46685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Instructor writes</a:t>
            </a:r>
            <a:r>
              <a:rPr lang="en-US" b="0" dirty="0">
                <a:solidFill>
                  <a:srgbClr val="404040"/>
                </a:solidFill>
              </a:rPr>
              <a:t> and runs</a:t>
            </a:r>
            <a:r>
              <a:rPr b="0" dirty="0">
                <a:solidFill>
                  <a:srgbClr val="404040"/>
                </a:solidFill>
              </a:rPr>
              <a:t> code step by step.
Makes the process of coding visible.
Demonstrated to make coding easier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for novices to understand.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155207"/>
            <a:ext cx="640080" cy="6400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15520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415520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564"/>
                </a:solidFill>
              </a:rPr>
              <a:t>You Leave With Something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4795287"/>
            <a:ext cx="46685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A </a:t>
            </a:r>
            <a:r>
              <a:rPr lang="en-US" b="0" dirty="0">
                <a:solidFill>
                  <a:srgbClr val="404040"/>
                </a:solidFill>
              </a:rPr>
              <a:t>series of</a:t>
            </a:r>
            <a:r>
              <a:rPr b="0" dirty="0">
                <a:solidFill>
                  <a:srgbClr val="404040"/>
                </a:solidFill>
              </a:rPr>
              <a:t> notebook</a:t>
            </a:r>
            <a:r>
              <a:rPr lang="en-US" b="0" dirty="0">
                <a:solidFill>
                  <a:srgbClr val="404040"/>
                </a:solidFill>
              </a:rPr>
              <a:t>s that can be</a:t>
            </a:r>
            <a:r>
              <a:rPr b="0" dirty="0">
                <a:solidFill>
                  <a:srgbClr val="404040"/>
                </a:solidFill>
              </a:rPr>
              <a:t> adapted to your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own research or teaching.</a:t>
            </a:r>
            <a:endParaRPr lang="en-US" b="0" dirty="0">
              <a:solidFill>
                <a:srgbClr val="404040"/>
              </a:solidFill>
            </a:endParaRPr>
          </a:p>
          <a:p>
            <a:pPr algn="l"/>
            <a:r>
              <a:rPr lang="en-US" dirty="0">
                <a:solidFill>
                  <a:srgbClr val="404040"/>
                </a:solidFill>
              </a:rPr>
              <a:t>More development in future workshops.</a:t>
            </a:r>
            <a:endParaRPr b="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42432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What You Will Leave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9206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A working Google </a:t>
            </a:r>
            <a:r>
              <a:rPr sz="2800" b="0" dirty="0" err="1">
                <a:solidFill>
                  <a:srgbClr val="FFFFFF"/>
                </a:solidFill>
              </a:rPr>
              <a:t>Colab</a:t>
            </a:r>
            <a:r>
              <a:rPr sz="2800" b="0" dirty="0">
                <a:solidFill>
                  <a:srgbClr val="FFFFFF"/>
                </a:solidFill>
              </a:rPr>
              <a:t> + GitHub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88724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Foundational Python skills grounded in BMB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58242"/>
            <a:ext cx="9966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FFFFFF"/>
                </a:solidFill>
              </a:rPr>
              <a:t>✅   </a:t>
            </a:r>
            <a:r>
              <a:rPr lang="en-US" sz="2800" b="0" dirty="0">
                <a:solidFill>
                  <a:srgbClr val="FFFFFF"/>
                </a:solidFill>
              </a:rPr>
              <a:t>Complete notebooks </a:t>
            </a:r>
            <a:r>
              <a:rPr sz="2800" b="0" dirty="0">
                <a:solidFill>
                  <a:srgbClr val="FFFFFF"/>
                </a:solidFill>
              </a:rPr>
              <a:t>you can use</a:t>
            </a:r>
            <a:r>
              <a:rPr lang="en-US" sz="2800" dirty="0">
                <a:solidFill>
                  <a:srgbClr val="FFFFFF"/>
                </a:solidFill>
              </a:rPr>
              <a:t> in own research or 				teaching</a:t>
            </a:r>
            <a:endParaRPr sz="2800" b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3828372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Membership in a growing community of BMB coders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236663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FFFFFF"/>
                </a:solidFill>
              </a:rPr>
              <a:t>You don't need to become </a:t>
            </a:r>
            <a:r>
              <a:rPr lang="en-US" b="0" dirty="0">
                <a:solidFill>
                  <a:srgbClr val="FFFFFF"/>
                </a:solidFill>
              </a:rPr>
              <a:t>an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lang="en-US" b="0" dirty="0">
                <a:solidFill>
                  <a:srgbClr val="FFFFFF"/>
                </a:solidFill>
              </a:rPr>
              <a:t>expert coder</a:t>
            </a:r>
            <a:r>
              <a:rPr b="0" dirty="0">
                <a:solidFill>
                  <a:srgbClr val="FFFFFF"/>
                </a:solidFill>
              </a:rPr>
              <a:t>.
You </a:t>
            </a:r>
            <a:r>
              <a:rPr lang="en-US" b="0" dirty="0">
                <a:solidFill>
                  <a:srgbClr val="FFFFFF"/>
                </a:solidFill>
              </a:rPr>
              <a:t>just </a:t>
            </a:r>
            <a:r>
              <a:rPr b="0" dirty="0">
                <a:solidFill>
                  <a:srgbClr val="FFFFFF"/>
                </a:solidFill>
              </a:rPr>
              <a:t>need to become confident enough to take the first step with your students.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</a:rPr>
              <a:t>CodeBMB</a:t>
            </a:r>
            <a:r>
              <a:rPr sz="1100" b="0" dirty="0">
                <a:solidFill>
                  <a:srgbClr val="FFFFFF"/>
                </a:solidFill>
              </a:rPr>
              <a:t> Workshop  |  </a:t>
            </a:r>
            <a:r>
              <a:rPr sz="1100" b="0" dirty="0" err="1">
                <a:solidFill>
                  <a:srgbClr val="FFFFFF"/>
                </a:solidFill>
              </a:rPr>
              <a:t>codingBMB@gmail.com</a:t>
            </a:r>
            <a:r>
              <a:rPr sz="1100" b="0" dirty="0">
                <a:solidFill>
                  <a:srgbClr val="FFFFFF"/>
                </a:solidFill>
              </a:rPr>
              <a:t>  |  </a:t>
            </a:r>
            <a:r>
              <a:rPr sz="1100" b="0" dirty="0" err="1">
                <a:solidFill>
                  <a:srgbClr val="FFFFFF"/>
                </a:solidFill>
              </a:rPr>
              <a:t>github.com</a:t>
            </a:r>
            <a:r>
              <a:rPr sz="1100" b="0" dirty="0">
                <a:solidFill>
                  <a:srgbClr val="FFFFFF"/>
                </a:solidFill>
              </a:rPr>
              <a:t>/</a:t>
            </a:r>
            <a:r>
              <a:rPr sz="1100" b="0" dirty="0" err="1">
                <a:solidFill>
                  <a:srgbClr val="FFFFFF"/>
                </a:solidFill>
              </a:rPr>
              <a:t>codeBMB</a:t>
            </a:r>
            <a:endParaRPr sz="1100"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2445</TotalTime>
  <Words>1299</Words>
  <Application>Microsoft Macintosh PowerPoint</Application>
  <PresentationFormat>Custom</PresentationFormat>
  <Paragraphs>158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Novak</cp:lastModifiedBy>
  <cp:revision>23</cp:revision>
  <dcterms:created xsi:type="dcterms:W3CDTF">2013-01-27T09:14:16Z</dcterms:created>
  <dcterms:modified xsi:type="dcterms:W3CDTF">2026-04-30T18:37:47Z</dcterms:modified>
  <cp:category/>
</cp:coreProperties>
</file>